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4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670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4206240" y="0"/>
            <a:ext cx="128016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658368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126187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Sales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365760" y="1901952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365760" y="2578608"/>
            <a:ext cx="3291840" cy="3657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5"/>
          <p:cNvSpPr/>
          <p:nvPr/>
        </p:nvSpPr>
        <p:spPr>
          <a:xfrm>
            <a:off x="365760" y="2697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ARIMA &amp; Prophet Time Series Models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365760" y="31272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MBIS-5003  ·  Assignment 3 (</a:t>
            </a:r>
            <a:r>
              <a:rPr lang="en-US" sz="105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C)  </a:t>
            </a:r>
            <a:r>
              <a:rPr lang="en-US" sz="105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Group Report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65760" y="3555492"/>
            <a:ext cx="3566160" cy="1225296"/>
          </a:xfrm>
          <a:prstGeom prst="rect">
            <a:avLst/>
          </a:prstGeom>
          <a:solidFill>
            <a:srgbClr val="1D3A5F"/>
          </a:solidFill>
          <a:ln w="12700">
            <a:solidFill>
              <a:srgbClr val="2A4F8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48456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363931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530352" y="4023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Al Rafsan (234856)</a:t>
            </a:r>
            <a:endParaRPr lang="en-US" sz="1050" b="1" dirty="0"/>
          </a:p>
        </p:txBody>
      </p:sp>
      <p:sp>
        <p:nvSpPr>
          <p:cNvPr id="14" name="Text 10"/>
          <p:cNvSpPr/>
          <p:nvPr/>
        </p:nvSpPr>
        <p:spPr>
          <a:xfrm>
            <a:off x="530352" y="427939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Fateha Haque (234724)  ·  Abdul Rahman Mohammed Saber (236009)</a:t>
            </a:r>
          </a:p>
        </p:txBody>
      </p:sp>
      <p:sp>
        <p:nvSpPr>
          <p:cNvPr id="15" name="Text 11"/>
          <p:cNvSpPr/>
          <p:nvPr/>
        </p:nvSpPr>
        <p:spPr>
          <a:xfrm>
            <a:off x="365760" y="48828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8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Australian Institute of Higher Education</a:t>
            </a:r>
            <a:endParaRPr lang="en-US" sz="9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11480"/>
            <a:ext cx="448056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pipeline for retail sales prediction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42416"/>
            <a:ext cx="8595360" cy="129844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2450592"/>
            <a:ext cx="2743200" cy="2423160"/>
          </a:xfrm>
          <a:prstGeom prst="rect">
            <a:avLst/>
          </a:prstGeom>
          <a:solidFill>
            <a:srgbClr val="EEF2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5"/>
          <p:cNvSpPr/>
          <p:nvPr/>
        </p:nvSpPr>
        <p:spPr>
          <a:xfrm>
            <a:off x="274320" y="2450592"/>
            <a:ext cx="2743200" cy="1645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6736" y="2697480"/>
            <a:ext cx="566928" cy="5669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402336" y="376732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future retail sales using 3 years of historical e-commerce transaction data to enable smarter business decisions.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154680" y="2450592"/>
            <a:ext cx="2743200" cy="2423160"/>
          </a:xfrm>
          <a:prstGeom prst="rect">
            <a:avLst/>
          </a:prstGeom>
          <a:solidFill>
            <a:srgbClr val="ECFE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4" name="Shape 9"/>
          <p:cNvSpPr/>
          <p:nvPr/>
        </p:nvSpPr>
        <p:spPr>
          <a:xfrm>
            <a:off x="3154680" y="2450592"/>
            <a:ext cx="2743200" cy="1645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96" y="2697480"/>
            <a:ext cx="566928" cy="5669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15468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3282696" y="376732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9,800+ daily records (Jan 2021–Dec 2023) across 4 regions and 3 product categories, aggregated to 36 monthly periods.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035040" y="2450592"/>
            <a:ext cx="2743200" cy="2423160"/>
          </a:xfrm>
          <a:prstGeom prst="rect">
            <a:avLst/>
          </a:prstGeom>
          <a:solidFill>
            <a:srgbClr val="FFFBEB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9" name="Shape 13"/>
          <p:cNvSpPr/>
          <p:nvPr/>
        </p:nvSpPr>
        <p:spPr>
          <a:xfrm>
            <a:off x="6035040" y="2450592"/>
            <a:ext cx="2743200" cy="16459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7456" y="2697480"/>
            <a:ext cx="566928" cy="5669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35040" y="336499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6163056" y="3767328"/>
            <a:ext cx="2487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dashboards (Power BI) delivering actionable insights for inventory, supply chain, and marketing optimisation.</a:t>
            </a:r>
            <a:endParaRPr lang="en-US" sz="1050" dirty="0"/>
          </a:p>
        </p:txBody>
      </p:sp>
      <p:sp>
        <p:nvSpPr>
          <p:cNvPr id="23" name="Shape 1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17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MBIS-5003 · Retail Sales Forecasting · ARIMA &amp; Prophet Comparative Analysis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Retail Sales Dataset · 1,095 daily records aggregated to 36 monthly periods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1993392" cy="1078992"/>
          </a:xfrm>
          <a:prstGeom prst="rect">
            <a:avLst/>
          </a:prstGeom>
          <a:solidFill>
            <a:srgbClr val="EEF2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1993392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274320" y="1188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9,800+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274320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Records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50592" y="1078992"/>
            <a:ext cx="1993392" cy="1078992"/>
          </a:xfrm>
          <a:prstGeom prst="rect">
            <a:avLst/>
          </a:prstGeom>
          <a:solidFill>
            <a:srgbClr val="ECFE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2450592" y="1078992"/>
            <a:ext cx="1993392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2450592" y="1188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Years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450592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 – Dec 2023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26864" y="1078992"/>
            <a:ext cx="1993392" cy="1078992"/>
          </a:xfrm>
          <a:prstGeom prst="rect">
            <a:avLst/>
          </a:prstGeom>
          <a:solidFill>
            <a:srgbClr val="FFFBEB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4626864" y="1078992"/>
            <a:ext cx="1993392" cy="9144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4626864" y="1188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626864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803136" y="1078992"/>
            <a:ext cx="1993392" cy="1078992"/>
          </a:xfrm>
          <a:prstGeom prst="rect">
            <a:avLst/>
          </a:prstGeom>
          <a:solidFill>
            <a:srgbClr val="F0FDF4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6803136" y="1078992"/>
            <a:ext cx="1993392" cy="91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6803136" y="1188720"/>
            <a:ext cx="19933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803136" y="178308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7432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Dataset Variables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274320" y="2670048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Shape 22"/>
          <p:cNvSpPr/>
          <p:nvPr/>
        </p:nvSpPr>
        <p:spPr>
          <a:xfrm>
            <a:off x="274320" y="2670048"/>
            <a:ext cx="91440" cy="3657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3"/>
          <p:cNvSpPr/>
          <p:nvPr/>
        </p:nvSpPr>
        <p:spPr>
          <a:xfrm>
            <a:off x="475488" y="26700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1773936" y="26700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timestamp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274320" y="3090672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6"/>
          <p:cNvSpPr/>
          <p:nvPr/>
        </p:nvSpPr>
        <p:spPr>
          <a:xfrm>
            <a:off x="274320" y="3090672"/>
            <a:ext cx="91440" cy="36576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7"/>
          <p:cNvSpPr/>
          <p:nvPr/>
        </p:nvSpPr>
        <p:spPr>
          <a:xfrm>
            <a:off x="475488" y="30906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Value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1773936" y="309067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order (USD)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274320" y="3511296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Shape 30"/>
          <p:cNvSpPr/>
          <p:nvPr/>
        </p:nvSpPr>
        <p:spPr>
          <a:xfrm>
            <a:off x="274320" y="3511296"/>
            <a:ext cx="91440" cy="36576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1"/>
          <p:cNvSpPr/>
          <p:nvPr/>
        </p:nvSpPr>
        <p:spPr>
          <a:xfrm>
            <a:off x="475488" y="351129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Category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773936" y="3511296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 · Office Supplies · Technology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74320" y="3931920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4"/>
          <p:cNvSpPr/>
          <p:nvPr/>
        </p:nvSpPr>
        <p:spPr>
          <a:xfrm>
            <a:off x="274320" y="3931920"/>
            <a:ext cx="91440" cy="36576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5"/>
          <p:cNvSpPr/>
          <p:nvPr/>
        </p:nvSpPr>
        <p:spPr>
          <a:xfrm>
            <a:off x="475488" y="39319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773936" y="39319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East · South · West</a:t>
            </a:r>
            <a:endParaRPr lang="en-US" sz="1050" dirty="0"/>
          </a:p>
        </p:txBody>
      </p:sp>
      <p:sp>
        <p:nvSpPr>
          <p:cNvPr id="40" name="Shape 37"/>
          <p:cNvSpPr/>
          <p:nvPr/>
        </p:nvSpPr>
        <p:spPr>
          <a:xfrm>
            <a:off x="274320" y="4352544"/>
            <a:ext cx="411480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8"/>
          <p:cNvSpPr/>
          <p:nvPr/>
        </p:nvSpPr>
        <p:spPr>
          <a:xfrm>
            <a:off x="274320" y="4352544"/>
            <a:ext cx="91440" cy="365760"/>
          </a:xfrm>
          <a:prstGeom prst="rect">
            <a:avLst/>
          </a:prstGeom>
          <a:solidFill>
            <a:srgbClr val="3A6BC4"/>
          </a:solidFill>
          <a:ln w="12700">
            <a:solidFill>
              <a:srgbClr val="3A6B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39"/>
          <p:cNvSpPr/>
          <p:nvPr/>
        </p:nvSpPr>
        <p:spPr>
          <a:xfrm>
            <a:off x="475488" y="435254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1773936" y="4352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· Corporate · Home Office</a:t>
            </a:r>
            <a:endParaRPr lang="en-US" sz="1050" dirty="0"/>
          </a:p>
        </p:txBody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240280"/>
            <a:ext cx="4206240" cy="2286000"/>
          </a:xfrm>
          <a:prstGeom prst="rect">
            <a:avLst/>
          </a:prstGeom>
        </p:spPr>
      </p:pic>
      <p:pic>
        <p:nvPicPr>
          <p:cNvPr id="4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4590288"/>
            <a:ext cx="914400" cy="914400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2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MBIS-5003 · Retail Sales Forecasting · ARIMA &amp; Prophet Comparative Analysis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Exploratory Analysis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preprocessing pipeline + EDA insights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402336" cy="6217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274320" y="1097280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68096" y="11338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Conversion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68096" y="1389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parsed → Python datetime format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74320" y="1792224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0"/>
          <p:cNvSpPr/>
          <p:nvPr/>
        </p:nvSpPr>
        <p:spPr>
          <a:xfrm>
            <a:off x="274320" y="1792224"/>
            <a:ext cx="402336" cy="621792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274320" y="1792224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68096" y="18288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Setting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68096" y="2084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column set as time-series index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274320" y="2487168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5"/>
          <p:cNvSpPr/>
          <p:nvPr/>
        </p:nvSpPr>
        <p:spPr>
          <a:xfrm>
            <a:off x="274320" y="2487168"/>
            <a:ext cx="402336" cy="62179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274320" y="2487168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68096" y="25237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Aggregation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68096" y="2779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records resampled to monthly totals (ME)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74320" y="3182112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0"/>
          <p:cNvSpPr/>
          <p:nvPr/>
        </p:nvSpPr>
        <p:spPr>
          <a:xfrm>
            <a:off x="274320" y="3182112"/>
            <a:ext cx="402336" cy="621792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274320" y="3182112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768096" y="3218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Deduplication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768096" y="34747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transactions removed for data integrity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274320" y="3877056"/>
            <a:ext cx="42976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8" name="Shape 25"/>
          <p:cNvSpPr/>
          <p:nvPr/>
        </p:nvSpPr>
        <p:spPr>
          <a:xfrm>
            <a:off x="274320" y="3877056"/>
            <a:ext cx="402336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6"/>
          <p:cNvSpPr/>
          <p:nvPr/>
        </p:nvSpPr>
        <p:spPr>
          <a:xfrm>
            <a:off x="274320" y="3877056"/>
            <a:ext cx="4023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68096" y="3913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 Split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768096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(Jan 2021–Apr 2023)  ·  20% test (May–Dec 2023)</a:t>
            </a:r>
            <a:endParaRPr lang="en-US" sz="10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1060704"/>
            <a:ext cx="4069080" cy="2286000"/>
          </a:xfrm>
          <a:prstGeom prst="rect">
            <a:avLst/>
          </a:prstGeom>
        </p:spPr>
      </p:pic>
      <p:sp>
        <p:nvSpPr>
          <p:cNvPr id="33" name="Shape 29"/>
          <p:cNvSpPr/>
          <p:nvPr/>
        </p:nvSpPr>
        <p:spPr>
          <a:xfrm>
            <a:off x="4773168" y="3493008"/>
            <a:ext cx="1938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Shape 30"/>
          <p:cNvSpPr/>
          <p:nvPr/>
        </p:nvSpPr>
        <p:spPr>
          <a:xfrm>
            <a:off x="4773168" y="3493008"/>
            <a:ext cx="73152" cy="5669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1"/>
          <p:cNvSpPr/>
          <p:nvPr/>
        </p:nvSpPr>
        <p:spPr>
          <a:xfrm>
            <a:off x="4901184" y="3529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[UP]  Upward Trend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4901184" y="37856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monthly growth 2021–2023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6821424" y="3493008"/>
            <a:ext cx="1938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Shape 34"/>
          <p:cNvSpPr/>
          <p:nvPr/>
        </p:nvSpPr>
        <p:spPr>
          <a:xfrm>
            <a:off x="6821424" y="3493008"/>
            <a:ext cx="73152" cy="566928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5"/>
          <p:cNvSpPr/>
          <p:nvPr/>
        </p:nvSpPr>
        <p:spPr>
          <a:xfrm>
            <a:off x="6949440" y="352958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Seasonal Peaks</a:t>
            </a:r>
            <a:endParaRPr lang="en-US" sz="1000" dirty="0"/>
          </a:p>
        </p:txBody>
      </p:sp>
      <p:sp>
        <p:nvSpPr>
          <p:cNvPr id="40" name="Text 36"/>
          <p:cNvSpPr/>
          <p:nvPr/>
        </p:nvSpPr>
        <p:spPr>
          <a:xfrm>
            <a:off x="6949440" y="3785616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demand in Q2 and Q4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4773168" y="4151376"/>
            <a:ext cx="1938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38"/>
          <p:cNvSpPr/>
          <p:nvPr/>
        </p:nvSpPr>
        <p:spPr>
          <a:xfrm>
            <a:off x="4773168" y="4151376"/>
            <a:ext cx="73152" cy="56692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39"/>
          <p:cNvSpPr/>
          <p:nvPr/>
        </p:nvSpPr>
        <p:spPr>
          <a:xfrm>
            <a:off x="4901184" y="41879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Regional Leaders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4901184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&amp; East drive highest revenue</a:t>
            </a:r>
            <a:endParaRPr lang="en-US" sz="950" dirty="0"/>
          </a:p>
        </p:txBody>
      </p:sp>
      <p:sp>
        <p:nvSpPr>
          <p:cNvPr id="45" name="Shape 41"/>
          <p:cNvSpPr/>
          <p:nvPr/>
        </p:nvSpPr>
        <p:spPr>
          <a:xfrm>
            <a:off x="6821424" y="4151376"/>
            <a:ext cx="1938528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2"/>
          <p:cNvSpPr/>
          <p:nvPr/>
        </p:nvSpPr>
        <p:spPr>
          <a:xfrm>
            <a:off x="6821424" y="4151376"/>
            <a:ext cx="73152" cy="56692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3"/>
          <p:cNvSpPr/>
          <p:nvPr/>
        </p:nvSpPr>
        <p:spPr>
          <a:xfrm>
            <a:off x="6949440" y="418795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Top Category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949440" y="4443984"/>
            <a:ext cx="1737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leads all product sales</a:t>
            </a:r>
            <a:endParaRPr lang="en-US" sz="950" dirty="0"/>
          </a:p>
        </p:txBody>
      </p:sp>
      <p:sp>
        <p:nvSpPr>
          <p:cNvPr id="49" name="Shape 45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6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MBIS-5003 · Retail Sales Forecasting · ARIMA &amp; Prophet Comparative Analysis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Model Implementation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(1,1,1) vs Facebook Prophet — configurations &amp; equations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274320" y="1078992"/>
            <a:ext cx="4160520" cy="4389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274320" y="107899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 (1, 1, 1)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609344"/>
            <a:ext cx="3794760" cy="438912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457200" y="160934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y_t = c + φ₁y_{t-1} + θ₁ε_{t-1} + ε_t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176272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713232" y="213055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(p=1):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1645920" y="21305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past sales values to predict future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7200" y="2596896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3"/>
          <p:cNvSpPr/>
          <p:nvPr/>
        </p:nvSpPr>
        <p:spPr>
          <a:xfrm>
            <a:off x="713232" y="25511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(d=1):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645920" y="2551176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differencing → stationarity achieved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3017520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6"/>
          <p:cNvSpPr/>
          <p:nvPr/>
        </p:nvSpPr>
        <p:spPr>
          <a:xfrm>
            <a:off x="713232" y="297180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(q=1):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645920" y="297180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past forecast errors in model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3438144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9"/>
          <p:cNvSpPr/>
          <p:nvPr/>
        </p:nvSpPr>
        <p:spPr>
          <a:xfrm>
            <a:off x="713232" y="339242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Test: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1645920" y="3392424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p=0.9519 (non-stationary) → after diff: p&lt;0.001 OK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3858768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2"/>
          <p:cNvSpPr/>
          <p:nvPr/>
        </p:nvSpPr>
        <p:spPr>
          <a:xfrm>
            <a:off x="713232" y="381304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Training: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645920" y="381304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2021–Apr 2023 · 28 months · 80% of data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4279392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5"/>
          <p:cNvSpPr/>
          <p:nvPr/>
        </p:nvSpPr>
        <p:spPr>
          <a:xfrm>
            <a:off x="713232" y="42336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1645920" y="423367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2023–Dec 2023 · 8 months · 20% of data</a:t>
            </a:r>
            <a:endParaRPr lang="en-US" sz="1050" dirty="0"/>
          </a:p>
        </p:txBody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" y="4498848"/>
            <a:ext cx="4114800" cy="91440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4709160" y="1078992"/>
            <a:ext cx="4160520" cy="3767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28"/>
          <p:cNvSpPr/>
          <p:nvPr/>
        </p:nvSpPr>
        <p:spPr>
          <a:xfrm>
            <a:off x="4709160" y="1078992"/>
            <a:ext cx="4160520" cy="43891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29"/>
          <p:cNvSpPr/>
          <p:nvPr/>
        </p:nvSpPr>
        <p:spPr>
          <a:xfrm>
            <a:off x="4709160" y="1078992"/>
            <a:ext cx="4160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Prophet</a:t>
            </a:r>
            <a:endParaRPr lang="en-US" sz="1600" dirty="0"/>
          </a:p>
        </p:txBody>
      </p:sp>
      <p:sp>
        <p:nvSpPr>
          <p:cNvPr id="34" name="Shape 30"/>
          <p:cNvSpPr/>
          <p:nvPr/>
        </p:nvSpPr>
        <p:spPr>
          <a:xfrm>
            <a:off x="4892040" y="1609344"/>
            <a:ext cx="3794760" cy="43891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1"/>
          <p:cNvSpPr/>
          <p:nvPr/>
        </p:nvSpPr>
        <p:spPr>
          <a:xfrm>
            <a:off x="4892040" y="1609344"/>
            <a:ext cx="3794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y(t) = g(t) + s(t) + h(t) + ε(t)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4892040" y="2176272"/>
            <a:ext cx="164592" cy="16459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3"/>
          <p:cNvSpPr/>
          <p:nvPr/>
        </p:nvSpPr>
        <p:spPr>
          <a:xfrm>
            <a:off x="5148072" y="213055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g(t):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6217920" y="213055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long-term growth direction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4892040" y="2596896"/>
            <a:ext cx="164592" cy="16459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6"/>
          <p:cNvSpPr/>
          <p:nvPr/>
        </p:nvSpPr>
        <p:spPr>
          <a:xfrm>
            <a:off x="5148072" y="255117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s(t):</a:t>
            </a:r>
            <a:endParaRPr lang="en-US" sz="1050" dirty="0"/>
          </a:p>
        </p:txBody>
      </p:sp>
      <p:sp>
        <p:nvSpPr>
          <p:cNvPr id="41" name="Text 37"/>
          <p:cNvSpPr/>
          <p:nvPr/>
        </p:nvSpPr>
        <p:spPr>
          <a:xfrm>
            <a:off x="6217920" y="25511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Seasonality: yearly + weekly + monthly (Fourier 5)</a:t>
            </a:r>
            <a:endParaRPr lang="en-US" sz="1050" dirty="0"/>
          </a:p>
        </p:txBody>
      </p:sp>
      <p:sp>
        <p:nvSpPr>
          <p:cNvPr id="42" name="Shape 38"/>
          <p:cNvSpPr/>
          <p:nvPr/>
        </p:nvSpPr>
        <p:spPr>
          <a:xfrm>
            <a:off x="4892040" y="3017520"/>
            <a:ext cx="164592" cy="16459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39"/>
          <p:cNvSpPr/>
          <p:nvPr/>
        </p:nvSpPr>
        <p:spPr>
          <a:xfrm>
            <a:off x="5148072" y="297180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h(t):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6217920" y="297180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Holidays &amp; discrete event effects</a:t>
            </a:r>
            <a:endParaRPr lang="en-US" sz="1050" dirty="0"/>
          </a:p>
        </p:txBody>
      </p:sp>
      <p:sp>
        <p:nvSpPr>
          <p:cNvPr id="45" name="Shape 41"/>
          <p:cNvSpPr/>
          <p:nvPr/>
        </p:nvSpPr>
        <p:spPr>
          <a:xfrm>
            <a:off x="4892040" y="3438144"/>
            <a:ext cx="164592" cy="16459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2"/>
          <p:cNvSpPr/>
          <p:nvPr/>
        </p:nvSpPr>
        <p:spPr>
          <a:xfrm>
            <a:off x="5148072" y="339242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Changepoint:</a:t>
            </a:r>
            <a:endParaRPr lang="en-US" sz="1050" dirty="0"/>
          </a:p>
        </p:txBody>
      </p:sp>
      <p:sp>
        <p:nvSpPr>
          <p:cNvPr id="47" name="Text 43"/>
          <p:cNvSpPr/>
          <p:nvPr/>
        </p:nvSpPr>
        <p:spPr>
          <a:xfrm>
            <a:off x="6217920" y="33924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prior_scale=0.05 for controlled flexibility</a:t>
            </a:r>
            <a:endParaRPr lang="en-US" sz="1050" dirty="0"/>
          </a:p>
        </p:txBody>
      </p:sp>
      <p:sp>
        <p:nvSpPr>
          <p:cNvPr id="48" name="Shape 44"/>
          <p:cNvSpPr/>
          <p:nvPr/>
        </p:nvSpPr>
        <p:spPr>
          <a:xfrm>
            <a:off x="4892040" y="3858768"/>
            <a:ext cx="164592" cy="16459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Text 45"/>
          <p:cNvSpPr/>
          <p:nvPr/>
        </p:nvSpPr>
        <p:spPr>
          <a:xfrm>
            <a:off x="5148072" y="38130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6217920" y="381304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(interval_width=0.95)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4892040" y="4279392"/>
            <a:ext cx="164592" cy="164592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2" name="Text 48"/>
          <p:cNvSpPr/>
          <p:nvPr/>
        </p:nvSpPr>
        <p:spPr>
          <a:xfrm>
            <a:off x="5148072" y="423367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6217920" y="423367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monthly seasonality: 30.5 days</a:t>
            </a:r>
            <a:endParaRPr lang="en-US" sz="1050" dirty="0"/>
          </a:p>
        </p:txBody>
      </p:sp>
      <p:sp>
        <p:nvSpPr>
          <p:cNvPr id="55" name="Shape 5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80% Training (Jan 2021–Apr 2023) | 20% Testing (May–Dec 2023)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Forecast Results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time-series chart with historical data, ARIMA trend &amp; Prophet seasonal forecast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24128"/>
            <a:ext cx="8595360" cy="212140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3236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 — 2024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547872"/>
          <a:ext cx="4114800" cy="2072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40,757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Jul–Dec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~40,882–40,884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4773168" y="3236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Forecast — Test Period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73168" y="3547872"/>
          <a:ext cx="4114800" cy="20726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Sales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8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44,116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34,621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21,987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16,779 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25,171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Nov–Dec 2023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25,577–30,990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0C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stabilises ~40,880 (&lt; 0.31% growth)  |  Prophet cycles: peak Jun 44,116 ↔ trough Sep 16,779  |  Uncertainty ±9,005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29184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Model Deep 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decomposition: Trend · Seasonality · Residual components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42416"/>
            <a:ext cx="466344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0424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5120640" y="1042416"/>
            <a:ext cx="9144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5321808" y="1097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Non-Stationary → Stationary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21808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ADF: p=0.9519 → after 1st differencing p&lt;0.001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19568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5120640" y="1956816"/>
            <a:ext cx="91440" cy="7680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5321808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(1,1,1)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21808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p=AR order, d=diff order, q=MA order — selected via ACF/PACF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20640" y="28712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5120640" y="2871216"/>
            <a:ext cx="91440" cy="76809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5321808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Predictions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21808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Converges to ~40,880 with diminishing growth rate &lt; 0.31%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7856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5120640" y="3785616"/>
            <a:ext cx="91440" cy="768096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5321808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AIC: 509.67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321808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AIC confirms good model fit with minimal complexity penalty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" y="4189476"/>
            <a:ext cx="3749040" cy="91440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SARIMAX Results: AIC=509.67 · BIC=513.56 · Log Likelihood=−251.84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329184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Model Deep Dive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329184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Decomposable time-series: Trend + Yearly + Weekly + Monthly components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42416"/>
            <a:ext cx="466344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10424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5120640" y="1042416"/>
            <a:ext cx="91440" cy="76809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5321808" y="1097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Changepoints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321808" y="13716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auto-detected changepoints with scale=0.05 for smooth trend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120640" y="19568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9"/>
          <p:cNvSpPr/>
          <p:nvPr/>
        </p:nvSpPr>
        <p:spPr>
          <a:xfrm>
            <a:off x="5120640" y="1956816"/>
            <a:ext cx="91440" cy="768096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0"/>
          <p:cNvSpPr/>
          <p:nvPr/>
        </p:nvSpPr>
        <p:spPr>
          <a:xfrm>
            <a:off x="5321808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Yearly Seasonality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321808" y="22860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annual patterns — peaks in Q2 (June) and Q4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120640" y="28712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3"/>
          <p:cNvSpPr/>
          <p:nvPr/>
        </p:nvSpPr>
        <p:spPr>
          <a:xfrm>
            <a:off x="5120640" y="2871216"/>
            <a:ext cx="91440" cy="76809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4"/>
          <p:cNvSpPr/>
          <p:nvPr/>
        </p:nvSpPr>
        <p:spPr>
          <a:xfrm>
            <a:off x="5321808" y="2926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Effects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21808" y="3200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 show higher consumer demand vs weekdays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120640" y="3785616"/>
            <a:ext cx="374904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0" name="Shape 17"/>
          <p:cNvSpPr/>
          <p:nvPr/>
        </p:nvSpPr>
        <p:spPr>
          <a:xfrm>
            <a:off x="5120640" y="3785616"/>
            <a:ext cx="91440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5321808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Bands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5321808" y="4114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uncertainty ±9,005 — crucial for risk management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equation: y(t) = g(t) + s(t) + h(t) + ε(t) · Fourier order=5 · period=30.5 days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Metrics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evaluation: MAE · RMSE · R² — comparing ARIMA vs Prophet prediction quality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60704"/>
            <a:ext cx="8595360" cy="22860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34747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5"/>
          <p:cNvSpPr/>
          <p:nvPr/>
        </p:nvSpPr>
        <p:spPr>
          <a:xfrm>
            <a:off x="274320" y="3474720"/>
            <a:ext cx="2743200" cy="914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6"/>
          <p:cNvSpPr/>
          <p:nvPr/>
        </p:nvSpPr>
        <p:spPr>
          <a:xfrm>
            <a:off x="384048" y="3584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— Mean Absolute Error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84048" y="385876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absolute differences between predicted and actual values. ARIMA scores 8.2% lower — more accurate predictions on average.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384048" y="4480560"/>
            <a:ext cx="1133856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9"/>
          <p:cNvSpPr/>
          <p:nvPr/>
        </p:nvSpPr>
        <p:spPr>
          <a:xfrm>
            <a:off x="384048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ARIMA: 6,653.64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1609344" y="4480560"/>
            <a:ext cx="11887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1"/>
          <p:cNvSpPr/>
          <p:nvPr/>
        </p:nvSpPr>
        <p:spPr>
          <a:xfrm>
            <a:off x="1609344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Prophet: 7,250.84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3154680" y="34747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3154680" y="3474720"/>
            <a:ext cx="274320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3264408" y="3584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— Root Mean Squared Error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64408" y="385876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root of average squared errors. Penalises large errors more heavily. ARIMA 7.7% better — fewer extreme prediction mistakes.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3264408" y="4480560"/>
            <a:ext cx="1133856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7"/>
          <p:cNvSpPr/>
          <p:nvPr/>
        </p:nvSpPr>
        <p:spPr>
          <a:xfrm>
            <a:off x="3264408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ARIMA: 7,508.69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489704" y="4480560"/>
            <a:ext cx="11887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19"/>
          <p:cNvSpPr/>
          <p:nvPr/>
        </p:nvSpPr>
        <p:spPr>
          <a:xfrm>
            <a:off x="4489704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Prophet: 8,136.35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035040" y="3474720"/>
            <a:ext cx="27432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5" name="Shape 21"/>
          <p:cNvSpPr/>
          <p:nvPr/>
        </p:nvSpPr>
        <p:spPr>
          <a:xfrm>
            <a:off x="6035040" y="3474720"/>
            <a:ext cx="2743200" cy="9144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2"/>
          <p:cNvSpPr/>
          <p:nvPr/>
        </p:nvSpPr>
        <p:spPr>
          <a:xfrm>
            <a:off x="6144768" y="3584448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— Coefficient of Determination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144768" y="3858768"/>
            <a:ext cx="25237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variance explained. Both negative due to high data volatility — but ARIMA's −3.75 is comparatively superior to −4.58.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44768" y="4480560"/>
            <a:ext cx="1133856" cy="256032"/>
          </a:xfrm>
          <a:prstGeom prst="rect">
            <a:avLst/>
          </a:prstGeom>
          <a:solidFill>
            <a:srgbClr val="EEF2FF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5"/>
          <p:cNvSpPr/>
          <p:nvPr/>
        </p:nvSpPr>
        <p:spPr>
          <a:xfrm>
            <a:off x="6144768" y="4480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ARIMA: −3.7516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7370064" y="4480560"/>
            <a:ext cx="1188720" cy="256032"/>
          </a:xfrm>
          <a:prstGeom prst="rect">
            <a:avLst/>
          </a:prstGeom>
          <a:solidFill>
            <a:srgbClr val="FFFBEB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Text 27"/>
          <p:cNvSpPr/>
          <p:nvPr/>
        </p:nvSpPr>
        <p:spPr>
          <a:xfrm>
            <a:off x="7370064" y="44805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88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Prophet: −4.5792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29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ARIMA wins all 3 accuracy metrics — more reliable forecasts for this retail dataset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evaluation across error metrics, capability radar &amp; forecast characteristics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0036"/>
            <a:ext cx="8595360" cy="32735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407408"/>
            <a:ext cx="8595360" cy="384048"/>
          </a:xfrm>
          <a:prstGeom prst="rect">
            <a:avLst/>
          </a:prstGeom>
          <a:solidFill>
            <a:srgbClr val="EEF2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5"/>
          <p:cNvSpPr/>
          <p:nvPr/>
        </p:nvSpPr>
        <p:spPr>
          <a:xfrm>
            <a:off x="365760" y="440740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[WN]  ARIMA wins MAE (−8.2%) · RMSE (−7.7%) · R² (−18.1%)   |   ARIMA: stable operational planning   |   Prophet: superior seasonal pattern detection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7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Use ARIMA for operational decisions · Prophet for seasonal strategy · Ensemble approach for maximum insight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 Analytics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Power BI · Interactive filters by Region, Category &amp; Time Period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050036"/>
            <a:ext cx="5029200" cy="31546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0" y="1042416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5"/>
          <p:cNvSpPr/>
          <p:nvPr/>
        </p:nvSpPr>
        <p:spPr>
          <a:xfrm>
            <a:off x="5486400" y="1042416"/>
            <a:ext cx="91440" cy="694944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Text 6"/>
          <p:cNvSpPr/>
          <p:nvPr/>
        </p:nvSpPr>
        <p:spPr>
          <a:xfrm>
            <a:off x="5669280" y="1097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[UP] Historical Sales Trend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669280" y="1371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 · Monthly sales 2015–2018 with seasonal peaks Q2 &amp; Q4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486400" y="1847088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9"/>
          <p:cNvSpPr/>
          <p:nvPr/>
        </p:nvSpPr>
        <p:spPr>
          <a:xfrm>
            <a:off x="5486400" y="1847088"/>
            <a:ext cx="91440" cy="694944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0"/>
          <p:cNvSpPr/>
          <p:nvPr/>
        </p:nvSpPr>
        <p:spPr>
          <a:xfrm>
            <a:off x="5669280" y="190195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Regional Performance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669280" y="217627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West &amp; East dominate; drill-down by geography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486400" y="2651760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3"/>
          <p:cNvSpPr/>
          <p:nvPr/>
        </p:nvSpPr>
        <p:spPr>
          <a:xfrm>
            <a:off x="5486400" y="2651760"/>
            <a:ext cx="91440" cy="694944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4"/>
          <p:cNvSpPr/>
          <p:nvPr/>
        </p:nvSpPr>
        <p:spPr>
          <a:xfrm>
            <a:off x="5669280" y="2706624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Product Category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669280" y="29809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· Technology leads; Office Supplies &amp; Furniture follow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486400" y="3456432"/>
            <a:ext cx="338328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7"/>
          <p:cNvSpPr/>
          <p:nvPr/>
        </p:nvSpPr>
        <p:spPr>
          <a:xfrm>
            <a:off x="5486400" y="3456432"/>
            <a:ext cx="91440" cy="6949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Text 18"/>
          <p:cNvSpPr/>
          <p:nvPr/>
        </p:nvSpPr>
        <p:spPr>
          <a:xfrm>
            <a:off x="5669280" y="351129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ARIMA vs Prophet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66928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 chart · Predicted vs actual overlay with 95% CI bands</a:t>
            </a:r>
            <a:endParaRPr lang="en-US" sz="10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334256"/>
            <a:ext cx="3383280" cy="9144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F4EFE6"/>
          </a:solidFill>
          <a:ln w="12700">
            <a:solidFill>
              <a:srgbClr val="D9D0C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3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MBIS-5003 · Retail Sales Forecasting · ARIMA &amp; Prophet Comparative Analysis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875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98755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" y="173736"/>
            <a:ext cx="566928" cy="56692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87552" y="914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Recommendations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87552" y="640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forecasting results into actionable operational strategy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4251960" cy="1719072"/>
          </a:xfrm>
          <a:prstGeom prst="rect">
            <a:avLst/>
          </a:prstGeom>
          <a:solidFill>
            <a:srgbClr val="ECFEFF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274320" y="1097280"/>
            <a:ext cx="4251960" cy="9144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16736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42416" y="133502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181051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ARIMA forecasts (~40,880) for baseline stock. Prepare safety stock for Prophet-predicted peaks in June &amp; February.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736592" y="1097280"/>
            <a:ext cx="4251960" cy="1719072"/>
          </a:xfrm>
          <a:prstGeom prst="rect">
            <a:avLst/>
          </a:prstGeom>
          <a:solidFill>
            <a:srgbClr val="FFFBEB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9"/>
          <p:cNvSpPr/>
          <p:nvPr/>
        </p:nvSpPr>
        <p:spPr>
          <a:xfrm>
            <a:off x="4736592" y="1097280"/>
            <a:ext cx="4251960" cy="9144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1316736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504688" y="133502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Planning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01184" y="181051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production, logistics, and distribution ahead of predicted high-demand months to reduce operational cost.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274320" y="2971800"/>
            <a:ext cx="4251960" cy="1719072"/>
          </a:xfrm>
          <a:prstGeom prst="rect">
            <a:avLst/>
          </a:prstGeom>
          <a:solidFill>
            <a:srgbClr val="F0FDF4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8" name="Shape 13"/>
          <p:cNvSpPr/>
          <p:nvPr/>
        </p:nvSpPr>
        <p:spPr>
          <a:xfrm>
            <a:off x="274320" y="2971800"/>
            <a:ext cx="4251960" cy="9144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191256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42416" y="32095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Strategy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438912" y="368503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campaigns aligned with Prophet-detected seasonal peaks (June &amp; February) to maximise promotional ROI.</a:t>
            </a:r>
            <a:endParaRPr lang="en-US" sz="1050" dirty="0"/>
          </a:p>
        </p:txBody>
      </p:sp>
      <p:sp>
        <p:nvSpPr>
          <p:cNvPr id="22" name="Shape 16"/>
          <p:cNvSpPr/>
          <p:nvPr/>
        </p:nvSpPr>
        <p:spPr>
          <a:xfrm>
            <a:off x="4736592" y="2971800"/>
            <a:ext cx="4251960" cy="1719072"/>
          </a:xfrm>
          <a:prstGeom prst="rect">
            <a:avLst/>
          </a:prstGeom>
          <a:solidFill>
            <a:srgbClr val="FFF5F5"/>
          </a:solidFill>
          <a:ln w="12700">
            <a:solidFill>
              <a:srgbClr val="D9D0C1"/>
            </a:solidFill>
            <a:prstDash val="solid"/>
          </a:ln>
          <a:effectLst>
            <a:outerShdw blurRad="1270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17"/>
          <p:cNvSpPr/>
          <p:nvPr/>
        </p:nvSpPr>
        <p:spPr>
          <a:xfrm>
            <a:off x="4736592" y="2971800"/>
            <a:ext cx="4251960" cy="914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3191256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504688" y="3209544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901184" y="3685032"/>
            <a:ext cx="39319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Prophet's 95% confidence intervals (±9,005) to plan contingency budgets and buffer stock for high-uncertainty periods.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1"/>
          <p:cNvSpPr/>
          <p:nvPr/>
        </p:nvSpPr>
        <p:spPr>
          <a:xfrm>
            <a:off x="274320" y="4919472"/>
            <a:ext cx="8595360" cy="224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→ Short-term operations  ·  Prophet → Seasonal strategy  ·  Ensemble → Most complete business intelligence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914400"/>
            <a:ext cx="5943600" cy="5943600"/>
          </a:xfrm>
          <a:prstGeom prst="ellipse">
            <a:avLst/>
          </a:prstGeom>
          <a:solidFill>
            <a:srgbClr val="254E8F"/>
          </a:solidFill>
          <a:ln w="12700">
            <a:solidFill>
              <a:srgbClr val="3A6BC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162E50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411480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26187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384048" y="2057400"/>
            <a:ext cx="4572000" cy="3657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5"/>
          <p:cNvSpPr/>
          <p:nvPr/>
        </p:nvSpPr>
        <p:spPr>
          <a:xfrm>
            <a:off x="384048" y="2176272"/>
            <a:ext cx="91440" cy="402336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6"/>
          <p:cNvSpPr/>
          <p:nvPr/>
        </p:nvSpPr>
        <p:spPr>
          <a:xfrm>
            <a:off x="594360" y="2194560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outperforms Prophet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432304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MAE (6,654 vs 7,251), RMSE (7,509 vs 8,136), higher R²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84048" y="2688336"/>
            <a:ext cx="91440" cy="402336"/>
          </a:xfrm>
          <a:prstGeom prst="rect">
            <a:avLst/>
          </a:prstGeom>
          <a:solidFill>
            <a:srgbClr val="00C2CB"/>
          </a:solidFill>
          <a:ln w="12700">
            <a:solidFill>
              <a:srgbClr val="00C2C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9"/>
          <p:cNvSpPr/>
          <p:nvPr/>
        </p:nvSpPr>
        <p:spPr>
          <a:xfrm>
            <a:off x="594360" y="2706624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operational planning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" y="2944368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forecasts stabilise ~40,880 — ideal for inventory &amp; staffing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4048" y="3200400"/>
            <a:ext cx="91440" cy="402336"/>
          </a:xfrm>
          <a:prstGeom prst="rect">
            <a:avLst/>
          </a:prstGeom>
          <a:solidFill>
            <a:srgbClr val="FFB830"/>
          </a:solidFill>
          <a:ln w="12700">
            <a:solidFill>
              <a:srgbClr val="FFB83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2"/>
          <p:cNvSpPr/>
          <p:nvPr/>
        </p:nvSpPr>
        <p:spPr>
          <a:xfrm>
            <a:off x="594360" y="321868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strategic insight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94360" y="3456432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Prophet reveals Jun peak (44k) and Sep trough (17k) for campaigns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84048" y="3712464"/>
            <a:ext cx="91440" cy="402336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5"/>
          <p:cNvSpPr/>
          <p:nvPr/>
        </p:nvSpPr>
        <p:spPr>
          <a:xfrm>
            <a:off x="594360" y="37307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Best-of-both approach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4360" y="3968496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models delivers the most complete intelligence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4048" y="4224528"/>
            <a:ext cx="91440" cy="40233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8"/>
          <p:cNvSpPr/>
          <p:nvPr/>
        </p:nvSpPr>
        <p:spPr>
          <a:xfrm>
            <a:off x="594360" y="424281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Dashboard-driven decisions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94360" y="4480560"/>
            <a:ext cx="4434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5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transforms complex outputs into actionable business insight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5232" y="1261872"/>
            <a:ext cx="3657600" cy="201168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1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MBIS-5003  ·  Ahmed Al Rafsan  ·  Fateha Haque  ·  Abdul Rahman Mohammed Saber  ·  March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1384</Words>
  <Application>Microsoft Office PowerPoint</Application>
  <PresentationFormat>On-screen Show (16:9)</PresentationFormat>
  <Paragraphs>221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Forecasting – ARIMA vs Prophet</dc:title>
  <dc:subject>PptxGenJS Presentation</dc:subject>
  <dc:creator>PptxGenJS</dc:creator>
  <cp:lastModifiedBy>Ahmed Al Rafsan</cp:lastModifiedBy>
  <cp:revision>6</cp:revision>
  <dcterms:created xsi:type="dcterms:W3CDTF">2026-03-16T06:15:47Z</dcterms:created>
  <dcterms:modified xsi:type="dcterms:W3CDTF">2026-03-17T08:02:22Z</dcterms:modified>
</cp:coreProperties>
</file>